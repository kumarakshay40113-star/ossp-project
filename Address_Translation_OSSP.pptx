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f39e1f-2932-4198-d03f-8217e5115a7d}">
          <p14:sldIdLst>
            <p14:sldId id="256"/>
            <p14:sldId id="257"/>
          </p14:sldIdLst>
        </p14:section>
        <p14:section name="Design" id="{fa10e8b3-5f61-667e-e8de-31e9f9957a96}">
          <p14:sldIdLst>
            <p14:sldId id="258"/>
            <p14:sldId id="259"/>
            <p14:sldId id="260"/>
            <p14:sldId id="261"/>
            <p14:sldId id="262"/>
          </p14:sldIdLst>
        </p14:section>
        <p14:section name="Results" id="{44ee4dbe-0349-caea-f5ff-11b9f18d0e62}">
          <p14:sldIdLst>
            <p14:sldId id="263"/>
            <p14:sldId id="264"/>
            <p14:sldId id="265"/>
            <p14:sldId id="266"/>
            <p14:sldId id="267"/>
          </p14:sldIdLst>
        </p14:section>
        <p14:section name="Wrap-up" id="{89171c40-67c1-3c73-d363-c8c8f2784ab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2A"/>
                </a:solidFill>
                <a:latin typeface="+mn-lt"/>
              </a:rPr>
              <a:t>TLB hit rate by TLB size (500 references)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TLB hit rate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10.6</c:v>
                </c:pt>
                <c:pt idx="1">
                  <c:v>24</c:v>
                </c:pt>
                <c:pt idx="2">
                  <c:v>47.8</c:v>
                </c:pt>
                <c:pt idx="3">
                  <c:v>75.8</c:v>
                </c:pt>
                <c:pt idx="4">
                  <c:v>75.8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2343B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2343B"/>
                    </a:solidFill>
                    <a:latin typeface="+mn-lt"/>
                  </a:rPr>
                  <a:t>TLB entries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E3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2343B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2343B"/>
                    </a:solidFill>
                    <a:latin typeface="+mn-lt"/>
                  </a:rPr>
                  <a:t>Hit rate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2A"/>
                </a:solidFill>
                <a:latin typeface="+mn-lt"/>
              </a:rPr>
              <a:t>Page fault rate by frame replacement policy (8 frames, 500 references)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 fault rate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FIFO</c:v>
                  </c:pt>
                  <c:pt idx="1">
                    <c:v>Clock</c:v>
                  </c:pt>
                  <c:pt idx="2">
                    <c:v>LRU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32.4</c:v>
                </c:pt>
                <c:pt idx="1">
                  <c:v>27.4</c:v>
                </c:pt>
                <c:pt idx="2">
                  <c:v>24.2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2343B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2343B"/>
                    </a:solidFill>
                    <a:latin typeface="+mn-lt"/>
                  </a:rPr>
                  <a:t>Replacement policy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5E3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2343B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2343B"/>
                    </a:solidFill>
                    <a:latin typeface="+mn-lt"/>
                  </a:rPr>
                  <a:t>Faults per reference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1F2A"/>
                </a:solidFill>
                <a:latin typeface="+mn-lt"/>
              </a:rPr>
              <a:t>Page fault rate by number of frames (LRU, 8-entry TLB, 500 references)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 fault rate</c:v>
                </c:pt>
              </c:strCache>
            </c:strRef>
          </c:tx>
          <c:spPr>
            <a:solidFill>
              <a:srgbClr val="0E7C86"/>
            </a:solidFill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52.2</c:v>
                </c:pt>
                <c:pt idx="2">
                  <c:v>24.2</c:v>
                </c:pt>
                <c:pt idx="3">
                  <c:v>16.8</c:v>
                </c:pt>
                <c:pt idx="4">
                  <c:v>16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0B1F2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2343B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2343B"/>
                    </a:solidFill>
                    <a:latin typeface="+mn-lt"/>
                  </a:rPr>
                  <a:t>Physical frames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E3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2343B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2343B"/>
                    </a:solidFill>
                    <a:latin typeface="+mn-lt"/>
                  </a:rPr>
                  <a:t>Faults per reference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 program that simulates how an OS and MMU turn virtual addresses into physical addresses using a page table, a TLB, and page replacement on faults. The grid is a motif for physical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the problem: protection, a large virtual address space, and the cost of translating on every access. The TLB exists because walking the page table in memory on every reference would be too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example address 0x0B05. The upper 8 bits select the page, the lower 8 bits are the byte within the page. The frame number from the TLB or page table replaces the page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arrows. A TLB hit goes straight to the physical address. A miss walks the page table; a valid entry is cached in the TLB. An invalid entry raises a page fault: the page is loaded into a free frame, or a victim is evicted by the chosen policy, then the page table and TLB are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table maps virtual pages to frames with valid, dirty and reference bits. The TLB keeps timestamps so either LRU or FIFO can pick a victim. Frames track which page they hold so a victim page can be found and invalidated.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TLB and physical memory each need a replacement policy. We implement LRU and FIFO for the TLB, and FIFO, LRU and Clock for frames. Note the invalidation step: without it the TLB could return a stale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 file, no dependencies. The command-line flags let you vary frames, TLB size and policies. Interactive mode lets you type addresses and watch the TLB and page table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output from the C simulator. Highlight the hits (amber) and the evictions (red). After frame 3 is filled at reference 6, every new page forces an eviction. The full 16-reference run ends with 2 TLB hits and 14 page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 references, 8 frames, LRU frame replacement, same seed for every run. Hit rate climbs steeply until the TLB can hold the hot working set, then flattens.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trace for all three policies. FIFO ignores recency and evicts hot pages. LRU uses recency. Clock approximates LRU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count sweep with LRU replacement. Below the working-set size the process thrashes. Past 16 frames extra memory buys very little for this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constants are configurable. The takeaway is the scale gap: a fault costs tens of thousands of times more than a hit, so replacement policy and frame count matter far more than shaving nanoseconds off the TLB.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a working simulator, three measured findings, and natural extensions.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22376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7223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OSSP Project  |  Virtual-to-Physical Address Translation Simulator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223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Virtual-to-Physical Address Translation Simulator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Page tables, TLB and page replacement, simulated in C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OSSP Project</a:t>
            </a:r>
            <a:endParaRPr lang="en-US" sz="2000" dirty="0"/>
          </a:p>
        </p:txBody>
      </p:sp>
      <p:sp>
        <p:nvSpPr>
          <p:cNvPr id="4" name="frame-cell-1"/>
          <p:cNvSpPr/>
          <p:nvPr/>
        </p:nvSpPr>
        <p:spPr>
          <a:xfrm>
            <a:off x="8503920" y="182880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frame-cell-2"/>
          <p:cNvSpPr/>
          <p:nvPr/>
        </p:nvSpPr>
        <p:spPr>
          <a:xfrm>
            <a:off x="9299448" y="182880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rame-cell-3"/>
          <p:cNvSpPr/>
          <p:nvPr/>
        </p:nvSpPr>
        <p:spPr>
          <a:xfrm>
            <a:off x="10094976" y="182880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frame-cell-4"/>
          <p:cNvSpPr/>
          <p:nvPr/>
        </p:nvSpPr>
        <p:spPr>
          <a:xfrm>
            <a:off x="10890504" y="182880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frame-cell-5"/>
          <p:cNvSpPr/>
          <p:nvPr/>
        </p:nvSpPr>
        <p:spPr>
          <a:xfrm>
            <a:off x="8503920" y="2624328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rame-cell-6"/>
          <p:cNvSpPr/>
          <p:nvPr/>
        </p:nvSpPr>
        <p:spPr>
          <a:xfrm>
            <a:off x="9299448" y="2624328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frame-cell-7"/>
          <p:cNvSpPr/>
          <p:nvPr/>
        </p:nvSpPr>
        <p:spPr>
          <a:xfrm>
            <a:off x="10094976" y="2624328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frame-cell-8"/>
          <p:cNvSpPr/>
          <p:nvPr/>
        </p:nvSpPr>
        <p:spPr>
          <a:xfrm>
            <a:off x="10890504" y="2624328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frame-cell-9"/>
          <p:cNvSpPr/>
          <p:nvPr/>
        </p:nvSpPr>
        <p:spPr>
          <a:xfrm>
            <a:off x="8503920" y="3419856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frame-cell-10"/>
          <p:cNvSpPr/>
          <p:nvPr/>
        </p:nvSpPr>
        <p:spPr>
          <a:xfrm>
            <a:off x="9299448" y="3419856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frame-cell-11"/>
          <p:cNvSpPr/>
          <p:nvPr/>
        </p:nvSpPr>
        <p:spPr>
          <a:xfrm>
            <a:off x="10094976" y="3419856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rame-cell-12"/>
          <p:cNvSpPr/>
          <p:nvPr/>
        </p:nvSpPr>
        <p:spPr>
          <a:xfrm>
            <a:off x="10890504" y="3419856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frame-cell-13"/>
          <p:cNvSpPr/>
          <p:nvPr/>
        </p:nvSpPr>
        <p:spPr>
          <a:xfrm>
            <a:off x="8503920" y="4215384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frame-cell-14"/>
          <p:cNvSpPr/>
          <p:nvPr/>
        </p:nvSpPr>
        <p:spPr>
          <a:xfrm>
            <a:off x="9299448" y="4215384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frame-cell-15"/>
          <p:cNvSpPr/>
          <p:nvPr/>
        </p:nvSpPr>
        <p:spPr>
          <a:xfrm>
            <a:off x="10094976" y="4215384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rame-cell-16"/>
          <p:cNvSpPr/>
          <p:nvPr/>
        </p:nvSpPr>
        <p:spPr>
          <a:xfrm>
            <a:off x="10890504" y="4215384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translation has to be fast</a:t>
            </a:r>
            <a:endParaRPr lang="en-US" sz="3600" dirty="0"/>
          </a:p>
        </p:txBody>
      </p:sp>
      <p:sp>
        <p:nvSpPr>
          <p:cNvPr id="3" name="icon-bg-17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" name="icon-18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814170"/>
            <a:ext cx="395021" cy="395021"/>
          </a:xfrm>
          <a:prstGeom prst="rect">
            <a:avLst/>
          </a:prstGeom>
        </p:spPr>
      </p:pic>
      <p:sp>
        <p:nvSpPr>
          <p:cNvPr id="5" name="text-19"/>
          <p:cNvSpPr txBox="1"/>
          <p:nvPr/>
        </p:nvSpPr>
        <p:spPr>
          <a:xfrm>
            <a:off x="16002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Isolation</a:t>
            </a:r>
            <a:endParaRPr lang="en-US" sz="2000" dirty="0"/>
          </a:p>
        </p:txBody>
      </p:sp>
      <p:sp>
        <p:nvSpPr>
          <p:cNvPr id="6" name="text-20"/>
          <p:cNvSpPr txBox="1"/>
          <p:nvPr/>
        </p:nvSpPr>
        <p:spPr>
          <a:xfrm>
            <a:off x="1600200" y="20116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process sees its own private address space, so one program cannot read or overwrite another's memory.</a:t>
            </a:r>
            <a:endParaRPr lang="en-US" sz="1400" dirty="0"/>
          </a:p>
        </p:txBody>
      </p:sp>
      <p:sp>
        <p:nvSpPr>
          <p:cNvPr id="7" name="icon-bg-21"/>
          <p:cNvSpPr/>
          <p:nvPr/>
        </p:nvSpPr>
        <p:spPr>
          <a:xfrm>
            <a:off x="548640" y="306324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con-2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3277210"/>
            <a:ext cx="395021" cy="395021"/>
          </a:xfrm>
          <a:prstGeom prst="rect">
            <a:avLst/>
          </a:prstGeom>
        </p:spPr>
      </p:pic>
      <p:sp>
        <p:nvSpPr>
          <p:cNvPr id="9" name="text-23"/>
          <p:cNvSpPr txBox="1"/>
          <p:nvPr/>
        </p:nvSpPr>
        <p:spPr>
          <a:xfrm>
            <a:off x="160020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larger illusion</a:t>
            </a:r>
            <a:endParaRPr lang="en-US" sz="2000" dirty="0"/>
          </a:p>
        </p:txBody>
      </p:sp>
      <p:sp>
        <p:nvSpPr>
          <p:cNvPr id="10" name="text-24"/>
          <p:cNvSpPr txBox="1"/>
          <p:nvPr/>
        </p:nvSpPr>
        <p:spPr>
          <a:xfrm>
            <a:off x="1600200" y="34747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Pages live in RAM only when needed, so a process can use more address space than there are physical frames.</a:t>
            </a:r>
            <a:endParaRPr lang="en-US" sz="1400" dirty="0"/>
          </a:p>
        </p:txBody>
      </p:sp>
      <p:sp>
        <p:nvSpPr>
          <p:cNvPr id="11" name="icon-bg-25"/>
          <p:cNvSpPr/>
          <p:nvPr/>
        </p:nvSpPr>
        <p:spPr>
          <a:xfrm>
            <a:off x="548640" y="452628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con-2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4740250"/>
            <a:ext cx="395021" cy="395021"/>
          </a:xfrm>
          <a:prstGeom prst="rect">
            <a:avLst/>
          </a:prstGeom>
        </p:spPr>
      </p:pic>
      <p:sp>
        <p:nvSpPr>
          <p:cNvPr id="13" name="text-27"/>
          <p:cNvSpPr txBox="1"/>
          <p:nvPr/>
        </p:nvSpPr>
        <p:spPr>
          <a:xfrm>
            <a:off x="160020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speed problem</a:t>
            </a:r>
            <a:endParaRPr lang="en-US" sz="2000" dirty="0"/>
          </a:p>
        </p:txBody>
      </p:sp>
      <p:sp>
        <p:nvSpPr>
          <p:cNvPr id="14" name="text-28"/>
          <p:cNvSpPr txBox="1"/>
          <p:nvPr/>
        </p:nvSpPr>
        <p:spPr>
          <a:xfrm>
            <a:off x="1600200" y="49377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load, store and instruction fetch needs a translation. A page-table walk in memory would double each access.</a:t>
            </a:r>
            <a:endParaRPr lang="en-US" sz="1400" dirty="0"/>
          </a:p>
        </p:txBody>
      </p:sp>
      <p:sp>
        <p:nvSpPr>
          <p:cNvPr id="15" name="card-29"/>
          <p:cNvSpPr/>
          <p:nvPr/>
        </p:nvSpPr>
        <p:spPr>
          <a:xfrm>
            <a:off x="7406640" y="1600200"/>
            <a:ext cx="4206240" cy="42976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-30"/>
          <p:cNvSpPr txBox="1"/>
          <p:nvPr/>
        </p:nvSpPr>
        <p:spPr>
          <a:xfrm>
            <a:off x="7772400" y="1920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memory reference needs a translation</a:t>
            </a:r>
            <a:endParaRPr lang="en-US" sz="2400" dirty="0"/>
          </a:p>
        </p:txBody>
      </p:sp>
      <p:sp>
        <p:nvSpPr>
          <p:cNvPr id="17" name="text-31"/>
          <p:cNvSpPr txBox="1"/>
          <p:nvPr/>
        </p:nvSpPr>
        <p:spPr>
          <a:xfrm>
            <a:off x="7772400" y="3657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TLB, a tiny cache of recent translations, makes the common case fast. The page table handles the rest, and page faults bring missing pages into memory.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Anatomy of a 16-bit virtual address</a:t>
            </a:r>
            <a:endParaRPr lang="en-US" sz="3600" dirty="0"/>
          </a:p>
        </p:txBody>
      </p:sp>
      <p:sp>
        <p:nvSpPr>
          <p:cNvPr id="3" name="text-3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bits 15-8</a:t>
            </a:r>
            <a:endParaRPr lang="en-US" sz="1200" dirty="0"/>
          </a:p>
        </p:txBody>
      </p:sp>
      <p:sp>
        <p:nvSpPr>
          <p:cNvPr id="4" name="text-33"/>
          <p:cNvSpPr txBox="1"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bits 7-0</a:t>
            </a:r>
            <a:endParaRPr lang="en-US" sz="1200" dirty="0"/>
          </a:p>
        </p:txBody>
      </p:sp>
      <p:sp>
        <p:nvSpPr>
          <p:cNvPr id="5" name="box-34"/>
          <p:cNvSpPr/>
          <p:nvPr/>
        </p:nvSpPr>
        <p:spPr>
          <a:xfrm>
            <a:off x="548640" y="1737360"/>
            <a:ext cx="548640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Page number (VPN)  |  8 bits</a:t>
            </a:r>
            <a:endParaRPr lang="en-US" sz="2400" dirty="0"/>
          </a:p>
        </p:txBody>
      </p:sp>
      <p:sp>
        <p:nvSpPr>
          <p:cNvPr id="6" name="box-35"/>
          <p:cNvSpPr/>
          <p:nvPr/>
        </p:nvSpPr>
        <p:spPr>
          <a:xfrm>
            <a:off x="6126480" y="1737360"/>
            <a:ext cx="548640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Offset  |  8 bits</a:t>
            </a:r>
            <a:endParaRPr lang="en-US" sz="2400" dirty="0"/>
          </a:p>
        </p:txBody>
      </p:sp>
      <p:sp>
        <p:nvSpPr>
          <p:cNvPr id="7" name="text-36"/>
          <p:cNvSpPr txBox="1"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256-byte pages and 256 pages give a 64 KB virtual space. The offset passes through unchanged; only the page number is translated.</a:t>
            </a:r>
            <a:endParaRPr lang="en-US" sz="1400" dirty="0"/>
          </a:p>
        </p:txBody>
      </p:sp>
      <p:sp>
        <p:nvSpPr>
          <p:cNvPr id="8" name="card-37"/>
          <p:cNvSpPr/>
          <p:nvPr/>
        </p:nvSpPr>
        <p:spPr>
          <a:xfrm>
            <a:off x="548640" y="361188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-badge-38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-num-39"/>
          <p:cNvSpPr txBox="1"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-40"/>
          <p:cNvSpPr txBox="1"/>
          <p:nvPr/>
        </p:nvSpPr>
        <p:spPr>
          <a:xfrm>
            <a:off x="14630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Split</a:t>
            </a:r>
            <a:endParaRPr lang="en-US" sz="2000" dirty="0"/>
          </a:p>
        </p:txBody>
      </p:sp>
      <p:sp>
        <p:nvSpPr>
          <p:cNvPr id="12" name="text-41"/>
          <p:cNvSpPr txBox="1"/>
          <p:nvPr/>
        </p:nvSpPr>
        <p:spPr>
          <a:xfrm>
            <a:off x="77724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 = 0x0B05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VPN = 0x0B = 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Offset = 0x05</a:t>
            </a:r>
            <a:endParaRPr lang="en-US" sz="1600" dirty="0"/>
          </a:p>
        </p:txBody>
      </p:sp>
      <p:sp>
        <p:nvSpPr>
          <p:cNvPr id="13" name="card-42"/>
          <p:cNvSpPr/>
          <p:nvPr/>
        </p:nvSpPr>
        <p:spPr>
          <a:xfrm>
            <a:off x="4343400" y="361188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badge-43"/>
          <p:cNvSpPr/>
          <p:nvPr/>
        </p:nvSpPr>
        <p:spPr>
          <a:xfrm>
            <a:off x="457200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-num-44"/>
          <p:cNvSpPr txBox="1"/>
          <p:nvPr/>
        </p:nvSpPr>
        <p:spPr>
          <a:xfrm>
            <a:off x="45720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-45"/>
          <p:cNvSpPr txBox="1"/>
          <p:nvPr/>
        </p:nvSpPr>
        <p:spPr>
          <a:xfrm>
            <a:off x="525780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Look up</a:t>
            </a:r>
            <a:endParaRPr lang="en-US" sz="2000" dirty="0"/>
          </a:p>
        </p:txBody>
      </p:sp>
      <p:sp>
        <p:nvSpPr>
          <p:cNvPr id="17" name="text-46"/>
          <p:cNvSpPr txBox="1"/>
          <p:nvPr/>
        </p:nvSpPr>
        <p:spPr>
          <a:xfrm>
            <a:off x="457200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11 maps to frame 1, found in the TLB or the page table</a:t>
            </a:r>
            <a:endParaRPr lang="en-US" sz="1600" dirty="0"/>
          </a:p>
        </p:txBody>
      </p:sp>
      <p:sp>
        <p:nvSpPr>
          <p:cNvPr id="18" name="card-47"/>
          <p:cNvSpPr/>
          <p:nvPr/>
        </p:nvSpPr>
        <p:spPr>
          <a:xfrm>
            <a:off x="8138160" y="361188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-badge-48"/>
          <p:cNvSpPr/>
          <p:nvPr/>
        </p:nvSpPr>
        <p:spPr>
          <a:xfrm>
            <a:off x="836676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-num-49"/>
          <p:cNvSpPr txBox="1"/>
          <p:nvPr/>
        </p:nvSpPr>
        <p:spPr>
          <a:xfrm>
            <a:off x="83667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-50"/>
          <p:cNvSpPr txBox="1"/>
          <p:nvPr/>
        </p:nvSpPr>
        <p:spPr>
          <a:xfrm>
            <a:off x="905256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Rebuild</a:t>
            </a:r>
            <a:endParaRPr lang="en-US" sz="2000" dirty="0"/>
          </a:p>
        </p:txBody>
      </p:sp>
      <p:sp>
        <p:nvSpPr>
          <p:cNvPr id="22" name="text-51"/>
          <p:cNvSpPr txBox="1"/>
          <p:nvPr/>
        </p:nvSpPr>
        <p:spPr>
          <a:xfrm>
            <a:off x="836676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 = (frame &lt;&lt; 8) | offset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= (1 &lt;&lt; 8) | 0x05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= 0x0105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one address gets translated</a:t>
            </a:r>
            <a:endParaRPr lang="en-US" sz="3600" dirty="0"/>
          </a:p>
        </p:txBody>
      </p:sp>
      <p:sp>
        <p:nvSpPr>
          <p:cNvPr id="3" name="box-52"/>
          <p:cNvSpPr/>
          <p:nvPr/>
        </p:nvSpPr>
        <p:spPr>
          <a:xfrm>
            <a:off x="457200" y="16002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CPU issues virtual address</a:t>
            </a:r>
            <a:endParaRPr lang="en-US" sz="1400" dirty="0"/>
          </a:p>
        </p:txBody>
      </p:sp>
      <p:sp>
        <p:nvSpPr>
          <p:cNvPr id="4" name="box-53"/>
          <p:cNvSpPr/>
          <p:nvPr/>
        </p:nvSpPr>
        <p:spPr>
          <a:xfrm>
            <a:off x="2743200" y="16002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Split into VPN and offset</a:t>
            </a:r>
            <a:endParaRPr lang="en-US" sz="1400" dirty="0"/>
          </a:p>
        </p:txBody>
      </p:sp>
      <p:sp>
        <p:nvSpPr>
          <p:cNvPr id="5" name="box-54"/>
          <p:cNvSpPr/>
          <p:nvPr/>
        </p:nvSpPr>
        <p:spPr>
          <a:xfrm>
            <a:off x="5029200" y="16002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TLB lookup</a:t>
            </a:r>
            <a:endParaRPr lang="en-US" sz="1400" dirty="0"/>
          </a:p>
        </p:txBody>
      </p:sp>
      <p:sp>
        <p:nvSpPr>
          <p:cNvPr id="6" name="box-55"/>
          <p:cNvSpPr/>
          <p:nvPr/>
        </p:nvSpPr>
        <p:spPr>
          <a:xfrm>
            <a:off x="7315200" y="16002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Frame number</a:t>
            </a:r>
            <a:endParaRPr lang="en-US" sz="1400" dirty="0"/>
          </a:p>
        </p:txBody>
      </p:sp>
      <p:sp>
        <p:nvSpPr>
          <p:cNvPr id="7" name="box-56"/>
          <p:cNvSpPr/>
          <p:nvPr/>
        </p:nvSpPr>
        <p:spPr>
          <a:xfrm>
            <a:off x="9601200" y="16002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 = frame, offset</a:t>
            </a:r>
            <a:endParaRPr lang="en-US" sz="1400" dirty="0"/>
          </a:p>
        </p:txBody>
      </p:sp>
      <p:sp>
        <p:nvSpPr>
          <p:cNvPr id="8" name="arrow-57"/>
          <p:cNvSpPr/>
          <p:nvPr/>
        </p:nvSpPr>
        <p:spPr>
          <a:xfrm>
            <a:off x="2377440" y="2034540"/>
            <a:ext cx="36576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9" name="arrow-58"/>
          <p:cNvSpPr/>
          <p:nvPr/>
        </p:nvSpPr>
        <p:spPr>
          <a:xfrm>
            <a:off x="4663440" y="2034540"/>
            <a:ext cx="36576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0" name="arrow-59"/>
          <p:cNvSpPr/>
          <p:nvPr/>
        </p:nvSpPr>
        <p:spPr>
          <a:xfrm>
            <a:off x="6949440" y="2034540"/>
            <a:ext cx="36576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1" name="arrow-60"/>
          <p:cNvSpPr/>
          <p:nvPr/>
        </p:nvSpPr>
        <p:spPr>
          <a:xfrm>
            <a:off x="9235440" y="2034540"/>
            <a:ext cx="36576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2" name="text-61"/>
          <p:cNvSpPr txBox="1"/>
          <p:nvPr/>
        </p:nvSpPr>
        <p:spPr>
          <a:xfrm>
            <a:off x="6949440" y="1645920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hit</a:t>
            </a:r>
            <a:endParaRPr lang="en-US" sz="1200" dirty="0"/>
          </a:p>
        </p:txBody>
      </p:sp>
      <p:sp>
        <p:nvSpPr>
          <p:cNvPr id="13" name="box-62"/>
          <p:cNvSpPr/>
          <p:nvPr/>
        </p:nvSpPr>
        <p:spPr>
          <a:xfrm>
            <a:off x="5029200" y="310896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table lookup</a:t>
            </a:r>
            <a:endParaRPr lang="en-US" sz="1400" dirty="0"/>
          </a:p>
        </p:txBody>
      </p:sp>
      <p:sp>
        <p:nvSpPr>
          <p:cNvPr id="14" name="arrow-63"/>
          <p:cNvSpPr/>
          <p:nvPr/>
        </p:nvSpPr>
        <p:spPr>
          <a:xfrm>
            <a:off x="5989320" y="2468880"/>
            <a:ext cx="0" cy="64008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5" name="text-64"/>
          <p:cNvSpPr txBox="1"/>
          <p:nvPr/>
        </p:nvSpPr>
        <p:spPr>
          <a:xfrm>
            <a:off x="6080760" y="2651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miss</a:t>
            </a:r>
            <a:endParaRPr lang="en-US" sz="1200" dirty="0"/>
          </a:p>
        </p:txBody>
      </p:sp>
      <p:sp>
        <p:nvSpPr>
          <p:cNvPr id="16" name="box-65"/>
          <p:cNvSpPr/>
          <p:nvPr/>
        </p:nvSpPr>
        <p:spPr>
          <a:xfrm>
            <a:off x="7315200" y="310896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Insert into TLB</a:t>
            </a:r>
            <a:endParaRPr lang="en-US" sz="1400" dirty="0"/>
          </a:p>
        </p:txBody>
      </p:sp>
      <p:sp>
        <p:nvSpPr>
          <p:cNvPr id="17" name="arrow-66"/>
          <p:cNvSpPr/>
          <p:nvPr/>
        </p:nvSpPr>
        <p:spPr>
          <a:xfrm>
            <a:off x="6949440" y="3543300"/>
            <a:ext cx="36576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8" name="text-67"/>
          <p:cNvSpPr txBox="1"/>
          <p:nvPr/>
        </p:nvSpPr>
        <p:spPr>
          <a:xfrm>
            <a:off x="6949440" y="3154680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</a:t>
            </a:r>
            <a:endParaRPr lang="en-US" sz="1200" dirty="0"/>
          </a:p>
        </p:txBody>
      </p:sp>
      <p:sp>
        <p:nvSpPr>
          <p:cNvPr id="19" name="arrow-68"/>
          <p:cNvSpPr/>
          <p:nvPr/>
        </p:nvSpPr>
        <p:spPr>
          <a:xfrm flipV="1">
            <a:off x="8275320" y="2468880"/>
            <a:ext cx="0" cy="64008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0" name="box-69"/>
          <p:cNvSpPr/>
          <p:nvPr/>
        </p:nvSpPr>
        <p:spPr>
          <a:xfrm>
            <a:off x="5029200" y="461772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fault: load page, evict victim if full</a:t>
            </a:r>
            <a:endParaRPr lang="en-US" sz="1400" dirty="0"/>
          </a:p>
        </p:txBody>
      </p:sp>
      <p:sp>
        <p:nvSpPr>
          <p:cNvPr id="21" name="arrow-70"/>
          <p:cNvSpPr/>
          <p:nvPr/>
        </p:nvSpPr>
        <p:spPr>
          <a:xfrm>
            <a:off x="5989320" y="3977640"/>
            <a:ext cx="0" cy="64008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2" name="text-71"/>
          <p:cNvSpPr txBox="1"/>
          <p:nvPr/>
        </p:nvSpPr>
        <p:spPr>
          <a:xfrm>
            <a:off x="608076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invalid</a:t>
            </a:r>
            <a:endParaRPr lang="en-US" sz="1200" dirty="0"/>
          </a:p>
        </p:txBody>
      </p:sp>
      <p:sp>
        <p:nvSpPr>
          <p:cNvPr id="23" name="box-72"/>
          <p:cNvSpPr/>
          <p:nvPr/>
        </p:nvSpPr>
        <p:spPr>
          <a:xfrm>
            <a:off x="7315200" y="461772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Update page table entry</a:t>
            </a:r>
            <a:endParaRPr lang="en-US" sz="1400" dirty="0"/>
          </a:p>
        </p:txBody>
      </p:sp>
      <p:sp>
        <p:nvSpPr>
          <p:cNvPr id="24" name="arrow-73"/>
          <p:cNvSpPr/>
          <p:nvPr/>
        </p:nvSpPr>
        <p:spPr>
          <a:xfrm>
            <a:off x="6949440" y="5120640"/>
            <a:ext cx="36576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5" name="arrow-74"/>
          <p:cNvSpPr/>
          <p:nvPr/>
        </p:nvSpPr>
        <p:spPr>
          <a:xfrm flipV="1">
            <a:off x="8275320" y="3977640"/>
            <a:ext cx="0" cy="64008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6" name="card-75"/>
          <p:cNvSpPr/>
          <p:nvPr/>
        </p:nvSpPr>
        <p:spPr>
          <a:xfrm>
            <a:off x="457200" y="3108960"/>
            <a:ext cx="4297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-76"/>
          <p:cNvSpPr txBox="1"/>
          <p:nvPr/>
        </p:nvSpPr>
        <p:spPr>
          <a:xfrm>
            <a:off x="73152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the simulator records</a:t>
            </a:r>
            <a:endParaRPr lang="en-US" sz="1800" dirty="0"/>
          </a:p>
        </p:txBody>
      </p:sp>
      <p:sp>
        <p:nvSpPr>
          <p:cNvPr id="28" name="text-77"/>
          <p:cNvSpPr txBox="1"/>
          <p:nvPr/>
        </p:nvSpPr>
        <p:spPr>
          <a:xfrm>
            <a:off x="731520" y="3749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Event per reference: TLB hit, page-table hit, or page 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Victim page when a frame must be reclaimed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Victim's TLB entry is invalidated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structures drive the simulator</a:t>
            </a:r>
            <a:endParaRPr lang="en-US" sz="3600" dirty="0"/>
          </a:p>
        </p:txBody>
      </p:sp>
      <p:sp>
        <p:nvSpPr>
          <p:cNvPr id="3" name="card-78"/>
          <p:cNvSpPr/>
          <p:nvPr/>
        </p:nvSpPr>
        <p:spPr>
          <a:xfrm>
            <a:off x="548640" y="155448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79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con-8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85162"/>
            <a:ext cx="373075" cy="373075"/>
          </a:xfrm>
          <a:prstGeom prst="rect">
            <a:avLst/>
          </a:prstGeom>
        </p:spPr>
      </p:pic>
      <p:sp>
        <p:nvSpPr>
          <p:cNvPr id="6" name="text-81"/>
          <p:cNvSpPr txBox="1"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Page table entry</a:t>
            </a:r>
            <a:endParaRPr lang="en-US" sz="2200" dirty="0"/>
          </a:p>
        </p:txBody>
      </p:sp>
      <p:sp>
        <p:nvSpPr>
          <p:cNvPr id="7" name="text-82"/>
          <p:cNvSpPr txBox="1"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256 entries, one per virtual page</a:t>
            </a:r>
            <a:endParaRPr lang="en-US" sz="1400" dirty="0"/>
          </a:p>
        </p:txBody>
      </p:sp>
      <p:sp>
        <p:nvSpPr>
          <p:cNvPr id="8" name="text-83"/>
          <p:cNvSpPr txBox="1"/>
          <p:nvPr/>
        </p:nvSpPr>
        <p:spPr>
          <a:xfrm>
            <a:off x="82296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Frame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 bit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Dirty bit, set on write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Reference bit, used by Clock</a:t>
            </a:r>
            <a:endParaRPr lang="en-US" sz="1600" dirty="0"/>
          </a:p>
        </p:txBody>
      </p:sp>
      <p:sp>
        <p:nvSpPr>
          <p:cNvPr id="9" name="card-84"/>
          <p:cNvSpPr/>
          <p:nvPr/>
        </p:nvSpPr>
        <p:spPr>
          <a:xfrm>
            <a:off x="4343400" y="155448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85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con-86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02" y="1985162"/>
            <a:ext cx="373075" cy="373075"/>
          </a:xfrm>
          <a:prstGeom prst="rect">
            <a:avLst/>
          </a:prstGeom>
        </p:spPr>
      </p:pic>
      <p:sp>
        <p:nvSpPr>
          <p:cNvPr id="12" name="text-87"/>
          <p:cNvSpPr txBox="1"/>
          <p:nvPr/>
        </p:nvSpPr>
        <p:spPr>
          <a:xfrm>
            <a:off x="461772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TLB entry</a:t>
            </a:r>
            <a:endParaRPr lang="en-US" sz="2200" dirty="0"/>
          </a:p>
        </p:txBody>
      </p:sp>
      <p:sp>
        <p:nvSpPr>
          <p:cNvPr id="13" name="text-88"/>
          <p:cNvSpPr txBox="1"/>
          <p:nvPr/>
        </p:nvSpPr>
        <p:spPr>
          <a:xfrm>
            <a:off x="461772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Fully associative, 1 to 64 entries</a:t>
            </a:r>
            <a:endParaRPr lang="en-US" sz="1400" dirty="0"/>
          </a:p>
        </p:txBody>
      </p:sp>
      <p:sp>
        <p:nvSpPr>
          <p:cNvPr id="14" name="text-89"/>
          <p:cNvSpPr txBox="1"/>
          <p:nvPr/>
        </p:nvSpPr>
        <p:spPr>
          <a:xfrm>
            <a:off x="461772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VPN tag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Frame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 time for FIFO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Last-use time for LRU</a:t>
            </a:r>
            <a:endParaRPr lang="en-US" sz="1600" dirty="0"/>
          </a:p>
        </p:txBody>
      </p:sp>
      <p:sp>
        <p:nvSpPr>
          <p:cNvPr id="15" name="card-90"/>
          <p:cNvSpPr/>
          <p:nvPr/>
        </p:nvSpPr>
        <p:spPr>
          <a:xfrm>
            <a:off x="8138160" y="155448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91"/>
          <p:cNvSpPr/>
          <p:nvPr/>
        </p:nvSpPr>
        <p:spPr>
          <a:xfrm>
            <a:off x="8412480" y="1783080"/>
            <a:ext cx="777240" cy="7772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con-9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562" y="1985162"/>
            <a:ext cx="373075" cy="373075"/>
          </a:xfrm>
          <a:prstGeom prst="rect">
            <a:avLst/>
          </a:prstGeom>
        </p:spPr>
      </p:pic>
      <p:sp>
        <p:nvSpPr>
          <p:cNvPr id="18" name="text-93"/>
          <p:cNvSpPr txBox="1"/>
          <p:nvPr/>
        </p:nvSpPr>
        <p:spPr>
          <a:xfrm>
            <a:off x="841248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Physical frame</a:t>
            </a:r>
            <a:endParaRPr lang="en-US" sz="2200" dirty="0"/>
          </a:p>
        </p:txBody>
      </p:sp>
      <p:sp>
        <p:nvSpPr>
          <p:cNvPr id="19" name="text-94"/>
          <p:cNvSpPr txBox="1"/>
          <p:nvPr/>
        </p:nvSpPr>
        <p:spPr>
          <a:xfrm>
            <a:off x="841248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Configurable, up to 256 frames</a:t>
            </a:r>
            <a:endParaRPr lang="en-US" sz="1400" dirty="0"/>
          </a:p>
        </p:txBody>
      </p:sp>
      <p:sp>
        <p:nvSpPr>
          <p:cNvPr id="20" name="text-95"/>
          <p:cNvSpPr txBox="1"/>
          <p:nvPr/>
        </p:nvSpPr>
        <p:spPr>
          <a:xfrm>
            <a:off x="841248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Page currently held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In-use flag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 time for FIFO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Last-access time for LRU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places where replacement happens</a:t>
            </a:r>
            <a:endParaRPr lang="en-US" sz="3600" dirty="0"/>
          </a:p>
        </p:txBody>
      </p:sp>
      <p:sp>
        <p:nvSpPr>
          <p:cNvPr id="3" name="text-96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TLB replacement</a:t>
            </a:r>
            <a:endParaRPr lang="en-US" sz="2200" dirty="0"/>
          </a:p>
        </p:txBody>
      </p:sp>
      <p:sp>
        <p:nvSpPr>
          <p:cNvPr id="4" name="text-97"/>
          <p:cNvSpPr txBox="1"/>
          <p:nvPr/>
        </p:nvSpPr>
        <p:spPr>
          <a:xfrm>
            <a:off x="62636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Frame replacement on a page fault</a:t>
            </a:r>
            <a:endParaRPr lang="en-US" sz="2200" dirty="0"/>
          </a:p>
        </p:txBody>
      </p:sp>
      <p:sp>
        <p:nvSpPr>
          <p:cNvPr id="5" name="card-98"/>
          <p:cNvSpPr/>
          <p:nvPr/>
        </p:nvSpPr>
        <p:spPr>
          <a:xfrm>
            <a:off x="548640" y="205740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99"/>
          <p:cNvSpPr txBox="1"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LRU</a:t>
            </a:r>
            <a:endParaRPr lang="en-US" sz="1800" dirty="0"/>
          </a:p>
        </p:txBody>
      </p:sp>
      <p:sp>
        <p:nvSpPr>
          <p:cNvPr id="7" name="text-100"/>
          <p:cNvSpPr txBox="1"/>
          <p:nvPr/>
        </p:nvSpPr>
        <p:spPr>
          <a:xfrm>
            <a:off x="82296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Evict the entry used least recently. Default.</a:t>
            </a:r>
            <a:endParaRPr lang="en-US" sz="1400" dirty="0"/>
          </a:p>
        </p:txBody>
      </p:sp>
      <p:sp>
        <p:nvSpPr>
          <p:cNvPr id="8" name="card-101"/>
          <p:cNvSpPr/>
          <p:nvPr/>
        </p:nvSpPr>
        <p:spPr>
          <a:xfrm>
            <a:off x="548640" y="338328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02"/>
          <p:cNvSpPr txBox="1"/>
          <p:nvPr/>
        </p:nvSpPr>
        <p:spPr>
          <a:xfrm>
            <a:off x="8229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FIFO</a:t>
            </a:r>
            <a:endParaRPr lang="en-US" sz="1800" dirty="0"/>
          </a:p>
        </p:txBody>
      </p:sp>
      <p:sp>
        <p:nvSpPr>
          <p:cNvPr id="10" name="text-103"/>
          <p:cNvSpPr txBox="1"/>
          <p:nvPr/>
        </p:nvSpPr>
        <p:spPr>
          <a:xfrm>
            <a:off x="82296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Evict the entry that has been in the TLB longest.</a:t>
            </a:r>
            <a:endParaRPr lang="en-US" sz="1400" dirty="0"/>
          </a:p>
        </p:txBody>
      </p:sp>
      <p:sp>
        <p:nvSpPr>
          <p:cNvPr id="11" name="card-104"/>
          <p:cNvSpPr/>
          <p:nvPr/>
        </p:nvSpPr>
        <p:spPr>
          <a:xfrm>
            <a:off x="6263640" y="205740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105"/>
          <p:cNvSpPr txBox="1"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FIFO</a:t>
            </a:r>
            <a:endParaRPr lang="en-US" sz="1800" dirty="0"/>
          </a:p>
        </p:txBody>
      </p:sp>
      <p:sp>
        <p:nvSpPr>
          <p:cNvPr id="13" name="text-106"/>
          <p:cNvSpPr txBox="1"/>
          <p:nvPr/>
        </p:nvSpPr>
        <p:spPr>
          <a:xfrm>
            <a:off x="653796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Evict the page loaded earliest. Simple, but can discard hot pages.</a:t>
            </a:r>
            <a:endParaRPr lang="en-US" sz="1400" dirty="0"/>
          </a:p>
        </p:txBody>
      </p:sp>
      <p:sp>
        <p:nvSpPr>
          <p:cNvPr id="14" name="card-107"/>
          <p:cNvSpPr/>
          <p:nvPr/>
        </p:nvSpPr>
        <p:spPr>
          <a:xfrm>
            <a:off x="6263640" y="338328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108"/>
          <p:cNvSpPr txBox="1"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LRU</a:t>
            </a:r>
            <a:endParaRPr lang="en-US" sz="1800" dirty="0"/>
          </a:p>
        </p:txBody>
      </p:sp>
      <p:sp>
        <p:nvSpPr>
          <p:cNvPr id="16" name="text-109"/>
          <p:cNvSpPr txBox="1"/>
          <p:nvPr/>
        </p:nvSpPr>
        <p:spPr>
          <a:xfrm>
            <a:off x="653796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Evict the page used least recently. Best use of locality.</a:t>
            </a:r>
            <a:endParaRPr lang="en-US" sz="1400" dirty="0"/>
          </a:p>
        </p:txBody>
      </p:sp>
      <p:sp>
        <p:nvSpPr>
          <p:cNvPr id="17" name="card-110"/>
          <p:cNvSpPr/>
          <p:nvPr/>
        </p:nvSpPr>
        <p:spPr>
          <a:xfrm>
            <a:off x="6263640" y="470916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-111"/>
          <p:cNvSpPr txBox="1"/>
          <p:nvPr/>
        </p:nvSpPr>
        <p:spPr>
          <a:xfrm>
            <a:off x="653796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Clock</a:t>
            </a:r>
            <a:endParaRPr lang="en-US" sz="1800" dirty="0"/>
          </a:p>
        </p:txBody>
      </p:sp>
      <p:sp>
        <p:nvSpPr>
          <p:cNvPr id="19" name="text-112"/>
          <p:cNvSpPr txBox="1"/>
          <p:nvPr/>
        </p:nvSpPr>
        <p:spPr>
          <a:xfrm>
            <a:off x="6537960" y="5257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Sweep a hand over frames and give pages with the reference bit set a second chance.</a:t>
            </a:r>
            <a:endParaRPr lang="en-US" sz="1400" dirty="0"/>
          </a:p>
        </p:txBody>
      </p:sp>
      <p:sp>
        <p:nvSpPr>
          <p:cNvPr id="20" name="card-113"/>
          <p:cNvSpPr/>
          <p:nvPr/>
        </p:nvSpPr>
        <p:spPr>
          <a:xfrm>
            <a:off x="548640" y="470916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-114"/>
          <p:cNvSpPr txBox="1"/>
          <p:nvPr/>
        </p:nvSpPr>
        <p:spPr>
          <a:xfrm>
            <a:off x="82296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When a page is evicted, its TLB entry is invalidated, so the TLB never points at a frame that now holds a different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Inside the C implementation</a:t>
            </a:r>
            <a:endParaRPr lang="en-US" sz="3600" dirty="0"/>
          </a:p>
        </p:txBody>
      </p:sp>
      <p:sp>
        <p:nvSpPr>
          <p:cNvPr id="3" name="text-115"/>
          <p:cNvSpPr txBox="1"/>
          <p:nvPr/>
        </p:nvSpPr>
        <p:spPr>
          <a:xfrm>
            <a:off x="54864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tlb_lookup / tlb_insert</a:t>
            </a:r>
            <a:endParaRPr lang="en-US" sz="1600" dirty="0"/>
          </a:p>
        </p:txBody>
      </p:sp>
      <p:sp>
        <p:nvSpPr>
          <p:cNvPr id="4" name="text-116"/>
          <p:cNvSpPr txBox="1"/>
          <p:nvPr/>
        </p:nvSpPr>
        <p:spPr>
          <a:xfrm>
            <a:off x="548640" y="19019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the TLB, update timestamps, pick a victim by policy</a:t>
            </a:r>
            <a:endParaRPr lang="en-US" sz="1400" dirty="0"/>
          </a:p>
        </p:txBody>
      </p:sp>
      <p:sp>
        <p:nvSpPr>
          <p:cNvPr id="5" name="text-117"/>
          <p:cNvSpPr txBox="1"/>
          <p:nvPr/>
        </p:nvSpPr>
        <p:spPr>
          <a:xfrm>
            <a:off x="548640" y="2468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translate()</a:t>
            </a:r>
            <a:endParaRPr lang="en-US" sz="1600" dirty="0"/>
          </a:p>
        </p:txBody>
      </p:sp>
      <p:sp>
        <p:nvSpPr>
          <p:cNvPr id="6" name="text-118"/>
          <p:cNvSpPr txBox="1"/>
          <p:nvPr/>
        </p:nvSpPr>
        <p:spPr>
          <a:xfrm>
            <a:off x="548640" y="28163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address, check TLB then page table, build the PA and its time cost</a:t>
            </a:r>
            <a:endParaRPr lang="en-US" sz="1400" dirty="0"/>
          </a:p>
        </p:txBody>
      </p:sp>
      <p:sp>
        <p:nvSpPr>
          <p:cNvPr id="7" name="text-119"/>
          <p:cNvSpPr txBox="1"/>
          <p:nvPr/>
        </p:nvSpPr>
        <p:spPr>
          <a:xfrm>
            <a:off x="548640" y="3383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handle_fault()</a:t>
            </a:r>
            <a:endParaRPr lang="en-US" sz="1600" dirty="0"/>
          </a:p>
        </p:txBody>
      </p:sp>
      <p:sp>
        <p:nvSpPr>
          <p:cNvPr id="8" name="text-120"/>
          <p:cNvSpPr txBox="1"/>
          <p:nvPr/>
        </p:nvSpPr>
        <p:spPr>
          <a:xfrm>
            <a:off x="548640" y="37307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a free frame or evict a victim, then update the page table</a:t>
            </a:r>
            <a:endParaRPr lang="en-US" sz="1400" dirty="0"/>
          </a:p>
        </p:txBody>
      </p:sp>
      <p:sp>
        <p:nvSpPr>
          <p:cNvPr id="9" name="text-121"/>
          <p:cNvSpPr txBox="1"/>
          <p:nvPr/>
        </p:nvSpPr>
        <p:spPr>
          <a:xfrm>
            <a:off x="54864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pick_victim_frame()</a:t>
            </a:r>
            <a:endParaRPr lang="en-US" sz="1600" dirty="0"/>
          </a:p>
        </p:txBody>
      </p:sp>
      <p:sp>
        <p:nvSpPr>
          <p:cNvPr id="10" name="text-122"/>
          <p:cNvSpPr txBox="1"/>
          <p:nvPr/>
        </p:nvSpPr>
        <p:spPr>
          <a:xfrm>
            <a:off x="548640" y="46451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FIFO, LRU or Clock choice of the frame to reclaim</a:t>
            </a:r>
            <a:endParaRPr lang="en-US" sz="1400" dirty="0"/>
          </a:p>
        </p:txBody>
      </p:sp>
      <p:sp>
        <p:nvSpPr>
          <p:cNvPr id="11" name="text-123"/>
          <p:cNvSpPr txBox="1"/>
          <p:nvPr/>
        </p:nvSpPr>
        <p:spPr>
          <a:xfrm>
            <a:off x="548640" y="5212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run_random()</a:t>
            </a:r>
            <a:endParaRPr lang="en-US" sz="1600" dirty="0"/>
          </a:p>
        </p:txBody>
      </p:sp>
      <p:sp>
        <p:nvSpPr>
          <p:cNvPr id="12" name="text-124"/>
          <p:cNvSpPr txBox="1"/>
          <p:nvPr/>
        </p:nvSpPr>
        <p:spPr>
          <a:xfrm>
            <a:off x="548640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Reproducible trace generator with a drifting hot set and 25% writes</a:t>
            </a:r>
            <a:endParaRPr lang="en-US" sz="1400" dirty="0"/>
          </a:p>
        </p:txBody>
      </p:sp>
      <p:sp>
        <p:nvSpPr>
          <p:cNvPr id="13" name="card-125"/>
          <p:cNvSpPr/>
          <p:nvPr/>
        </p:nvSpPr>
        <p:spPr>
          <a:xfrm>
            <a:off x="6126480" y="1554480"/>
            <a:ext cx="5486400" cy="41148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-126"/>
          <p:cNvSpPr txBox="1"/>
          <p:nvPr/>
        </p:nvSpPr>
        <p:spPr>
          <a:xfrm>
            <a:off x="6400800" y="178308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-O2 -o vm_simulator vm_simulator.c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./vm_simulator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./vm_simulator -t 0x0A10 0x0B05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./vm_simulator -r 500 -s 1 \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-f 8 -T 4 -R LRU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./vm_simulator -i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frames   -T TLB size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TLB policy (LRU|FIFO)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replacement (FIFO|LRU|CLOCK)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 summary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Worked example: the first 8 references</a:t>
            </a:r>
            <a:endParaRPr lang="en-US" sz="3600" dirty="0"/>
          </a:p>
        </p:txBody>
      </p:sp>
      <p:graphicFrame>
        <p:nvGraphicFramePr>
          <p:cNvPr id="9" name="trace-table-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868680"/>
                <a:gridCol w="73152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Virtual addr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Offset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Frame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Physical addr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0x0A10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0x0010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Miss, page fault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0x0A24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0x24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0x0024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TLB hit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0x0B05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0x05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0x0105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Miss, page fault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0x0A30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0x30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0x0030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TLB hit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0x0C99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0x99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0x0299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Miss, page fault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0x0D01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0x0301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Miss, page fault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0x0E7F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0x7F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0x017F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Fault, evict page 11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0x0F00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0x0000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Fault, evict page 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8"/>
                    </a:solidFill>
                  </a:tcPr>
                </a:tc>
              </a:tr>
            </a:tbl>
          </a:graphicData>
        </a:graphic>
      </p:graphicFrame>
      <p:sp>
        <p:nvSpPr>
          <p:cNvPr id="4" name="text-128"/>
          <p:cNvSpPr txBox="1"/>
          <p:nvPr/>
        </p:nvSpPr>
        <p:spPr>
          <a:xfrm>
            <a:off x="548640" y="5806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Demo trace: 4 frames, 4-entry LRU TLB, LRU replacement. 8 of 16 references shown.</a:t>
            </a:r>
            <a:endParaRPr lang="en-US" sz="1200" dirty="0"/>
          </a:p>
        </p:txBody>
      </p:sp>
      <p:sp>
        <p:nvSpPr>
          <p:cNvPr id="5" name="card-129"/>
          <p:cNvSpPr/>
          <p:nvPr/>
        </p:nvSpPr>
        <p:spPr>
          <a:xfrm>
            <a:off x="8595360" y="1508760"/>
            <a:ext cx="3017520" cy="43434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-130"/>
          <p:cNvSpPr txBox="1"/>
          <p:nvPr/>
        </p:nvSpPr>
        <p:spPr>
          <a:xfrm>
            <a:off x="882396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16</a:t>
            </a:r>
            <a:endParaRPr lang="en-US" sz="4000" dirty="0"/>
          </a:p>
        </p:txBody>
      </p:sp>
      <p:sp>
        <p:nvSpPr>
          <p:cNvPr id="7" name="text-131"/>
          <p:cNvSpPr txBox="1"/>
          <p:nvPr/>
        </p:nvSpPr>
        <p:spPr>
          <a:xfrm>
            <a:off x="882396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references were TLB hits over the full trace</a:t>
            </a:r>
            <a:endParaRPr lang="en-US" sz="1400" dirty="0"/>
          </a:p>
        </p:txBody>
      </p:sp>
      <p:sp>
        <p:nvSpPr>
          <p:cNvPr id="8" name="text-132"/>
          <p:cNvSpPr txBox="1"/>
          <p:nvPr/>
        </p:nvSpPr>
        <p:spPr>
          <a:xfrm>
            <a:off x="8823960" y="35204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Both hits reuse page 10 right after it was loaded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The 4 frames are full by reference 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Page 10 is evicted, then faults again later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TLB only helps up to the working set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33"/>
          <p:cNvSpPr/>
          <p:nvPr/>
        </p:nvSpPr>
        <p:spPr>
          <a:xfrm>
            <a:off x="8412480" y="1554480"/>
            <a:ext cx="3200400" cy="448056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34"/>
          <p:cNvSpPr txBox="1"/>
          <p:nvPr/>
        </p:nvSpPr>
        <p:spPr>
          <a:xfrm>
            <a:off x="868680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75.8%</a:t>
            </a:r>
            <a:endParaRPr lang="en-US" sz="4800" dirty="0"/>
          </a:p>
        </p:txBody>
      </p:sp>
      <p:sp>
        <p:nvSpPr>
          <p:cNvPr id="6" name="text-135"/>
          <p:cNvSpPr txBox="1"/>
          <p:nvPr/>
        </p:nvSpPr>
        <p:spPr>
          <a:xfrm>
            <a:off x="868680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hit rate at 8 entries</a:t>
            </a:r>
            <a:endParaRPr lang="en-US" sz="1600" dirty="0"/>
          </a:p>
        </p:txBody>
      </p:sp>
      <p:sp>
        <p:nvSpPr>
          <p:cNvPr id="7" name="text-136"/>
          <p:cNvSpPr txBox="1"/>
          <p:nvPr/>
        </p:nvSpPr>
        <p:spPr>
          <a:xfrm>
            <a:off x="8686800" y="37947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workload keeps about 6 pages hot. Once the TLB covers them, doubling it to 16 entries adds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LRU beats FIFO on page faults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37"/>
          <p:cNvSpPr/>
          <p:nvPr/>
        </p:nvSpPr>
        <p:spPr>
          <a:xfrm>
            <a:off x="8412480" y="1554480"/>
            <a:ext cx="3200400" cy="448056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38"/>
          <p:cNvSpPr txBox="1"/>
          <p:nvPr/>
        </p:nvSpPr>
        <p:spPr>
          <a:xfrm>
            <a:off x="868680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4800" dirty="0"/>
          </a:p>
        </p:txBody>
      </p:sp>
      <p:sp>
        <p:nvSpPr>
          <p:cNvPr id="6" name="text-139"/>
          <p:cNvSpPr txBox="1"/>
          <p:nvPr/>
        </p:nvSpPr>
        <p:spPr>
          <a:xfrm>
            <a:off x="868680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fewer faults, LRU vs FIFO</a:t>
            </a:r>
            <a:endParaRPr lang="en-US" sz="1600" dirty="0"/>
          </a:p>
        </p:txBody>
      </p:sp>
      <p:sp>
        <p:nvSpPr>
          <p:cNvPr id="7" name="text-140"/>
          <p:cNvSpPr txBox="1"/>
          <p:nvPr/>
        </p:nvSpPr>
        <p:spPr>
          <a:xfrm>
            <a:off x="8686800" y="37947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162 faults under FIFO against 121 under LRU. Clock lands in between, approximating LRU with a single reference bit.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More frames, fewer faults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41"/>
          <p:cNvSpPr/>
          <p:nvPr/>
        </p:nvSpPr>
        <p:spPr>
          <a:xfrm>
            <a:off x="8412480" y="1554480"/>
            <a:ext cx="3200400" cy="448056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42"/>
          <p:cNvSpPr txBox="1"/>
          <p:nvPr/>
        </p:nvSpPr>
        <p:spPr>
          <a:xfrm>
            <a:off x="868680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 to 16%</a:t>
            </a:r>
            <a:endParaRPr lang="en-US" sz="3400" dirty="0"/>
          </a:p>
        </p:txBody>
      </p:sp>
      <p:sp>
        <p:nvSpPr>
          <p:cNvPr id="6" name="text-143"/>
          <p:cNvSpPr txBox="1"/>
          <p:nvPr/>
        </p:nvSpPr>
        <p:spPr>
          <a:xfrm>
            <a:off x="868680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fault rate from 2 to 32 frames</a:t>
            </a:r>
            <a:endParaRPr lang="en-US" sz="1600" dirty="0"/>
          </a:p>
        </p:txBody>
      </p:sp>
      <p:sp>
        <p:nvSpPr>
          <p:cNvPr id="7" name="text-144"/>
          <p:cNvSpPr txBox="1"/>
          <p:nvPr/>
        </p:nvSpPr>
        <p:spPr>
          <a:xfrm>
            <a:off x="8686800" y="37947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big gains come between 2 and 8 frames. Past 16 frames the curve flattens.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Page faults dominate access time</a:t>
            </a:r>
            <a:endParaRPr lang="en-US" sz="3600" dirty="0"/>
          </a:p>
        </p:txBody>
      </p:sp>
      <p:sp>
        <p:nvSpPr>
          <p:cNvPr id="3" name="card-145"/>
          <p:cNvSpPr/>
          <p:nvPr/>
        </p:nvSpPr>
        <p:spPr>
          <a:xfrm>
            <a:off x="54864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146"/>
          <p:cNvSpPr txBox="1"/>
          <p:nvPr/>
        </p:nvSpPr>
        <p:spPr>
          <a:xfrm>
            <a:off x="82296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ns</a:t>
            </a:r>
            <a:endParaRPr lang="en-US" sz="4400" dirty="0"/>
          </a:p>
        </p:txBody>
      </p:sp>
      <p:sp>
        <p:nvSpPr>
          <p:cNvPr id="5" name="text-147"/>
          <p:cNvSpPr txBox="1"/>
          <p:nvPr/>
        </p:nvSpPr>
        <p:spPr>
          <a:xfrm>
            <a:off x="8229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TLB hit</a:t>
            </a:r>
            <a:endParaRPr lang="en-US" sz="1800" dirty="0"/>
          </a:p>
        </p:txBody>
      </p:sp>
      <p:sp>
        <p:nvSpPr>
          <p:cNvPr id="6" name="text-148"/>
          <p:cNvSpPr txBox="1"/>
          <p:nvPr/>
        </p:nvSpPr>
        <p:spPr>
          <a:xfrm>
            <a:off x="82296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 ns TLB + 100 ns memory</a:t>
            </a:r>
            <a:endParaRPr lang="en-US" sz="1400" dirty="0"/>
          </a:p>
        </p:txBody>
      </p:sp>
      <p:sp>
        <p:nvSpPr>
          <p:cNvPr id="7" name="card-149"/>
          <p:cNvSpPr/>
          <p:nvPr/>
        </p:nvSpPr>
        <p:spPr>
          <a:xfrm>
            <a:off x="434340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-150"/>
          <p:cNvSpPr txBox="1"/>
          <p:nvPr/>
        </p:nvSpPr>
        <p:spPr>
          <a:xfrm>
            <a:off x="461772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 ns</a:t>
            </a:r>
            <a:endParaRPr lang="en-US" sz="4400" dirty="0"/>
          </a:p>
        </p:txBody>
      </p:sp>
      <p:sp>
        <p:nvSpPr>
          <p:cNvPr id="9" name="text-151"/>
          <p:cNvSpPr txBox="1"/>
          <p:nvPr/>
        </p:nvSpPr>
        <p:spPr>
          <a:xfrm>
            <a:off x="46177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TLB miss, page present</a:t>
            </a:r>
            <a:endParaRPr lang="en-US" sz="1800" dirty="0"/>
          </a:p>
        </p:txBody>
      </p:sp>
      <p:sp>
        <p:nvSpPr>
          <p:cNvPr id="10" name="text-152"/>
          <p:cNvSpPr txBox="1"/>
          <p:nvPr/>
        </p:nvSpPr>
        <p:spPr>
          <a:xfrm>
            <a:off x="461772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TLB + page-table walk + data access</a:t>
            </a:r>
            <a:endParaRPr lang="en-US" sz="1400" dirty="0"/>
          </a:p>
        </p:txBody>
      </p:sp>
      <p:sp>
        <p:nvSpPr>
          <p:cNvPr id="11" name="card-153"/>
          <p:cNvSpPr/>
          <p:nvPr/>
        </p:nvSpPr>
        <p:spPr>
          <a:xfrm>
            <a:off x="813816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-154"/>
          <p:cNvSpPr txBox="1"/>
          <p:nvPr/>
        </p:nvSpPr>
        <p:spPr>
          <a:xfrm>
            <a:off x="841248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 ms</a:t>
            </a:r>
            <a:endParaRPr lang="en-US" sz="4400" dirty="0"/>
          </a:p>
        </p:txBody>
      </p:sp>
      <p:sp>
        <p:nvSpPr>
          <p:cNvPr id="13" name="text-155"/>
          <p:cNvSpPr txBox="1"/>
          <p:nvPr/>
        </p:nvSpPr>
        <p:spPr>
          <a:xfrm>
            <a:off x="84124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Page fault</a:t>
            </a:r>
            <a:endParaRPr lang="en-US" sz="1800" dirty="0"/>
          </a:p>
        </p:txBody>
      </p:sp>
      <p:sp>
        <p:nvSpPr>
          <p:cNvPr id="14" name="text-156"/>
          <p:cNvSpPr txBox="1"/>
          <p:nvPr/>
        </p:nvSpPr>
        <p:spPr>
          <a:xfrm>
            <a:off x="841248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8,000,201 ns including fault service</a:t>
            </a:r>
            <a:endParaRPr lang="en-US" sz="1400" dirty="0"/>
          </a:p>
        </p:txBody>
      </p:sp>
      <p:sp>
        <p:nvSpPr>
          <p:cNvPr id="15" name="card-157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58"/>
          <p:cNvSpPr txBox="1"/>
          <p:nvPr/>
        </p:nvSpPr>
        <p:spPr>
          <a:xfrm>
            <a:off x="822960" y="4114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= hit% x 101 + miss% x 201 + fault% x 8,000,201 ns</a:t>
            </a:r>
            <a:endParaRPr lang="en-US" sz="2000" dirty="0"/>
          </a:p>
        </p:txBody>
      </p:sp>
      <p:sp>
        <p:nvSpPr>
          <p:cNvPr id="17" name="text-159"/>
          <p:cNvSpPr txBox="1"/>
          <p:nvPr/>
        </p:nvSpPr>
        <p:spPr>
          <a:xfrm>
            <a:off x="822960" y="46177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Measured with LRU, 8 frames, 500 references: 1,936,153 ns per reference. A 24.2% fault rate times 8 ms accounts for almost all of it, so the 100 ns the TLB saves per hit is small next to avoiding a fault.</a:t>
            </a:r>
            <a:endParaRPr lang="en-US" sz="1600" dirty="0"/>
          </a:p>
        </p:txBody>
      </p:sp>
      <p:sp>
        <p:nvSpPr>
          <p:cNvPr id="18" name="text-160"/>
          <p:cNvSpPr txBox="1"/>
          <p:nvPr/>
        </p:nvSpPr>
        <p:spPr>
          <a:xfrm>
            <a:off x="822960" y="5577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Timing model: TLB 1 ns, memory 100 ns, page-fault service 8 ms. Constants are set at the top of vm_simulator.c.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built and learned</a:t>
            </a:r>
            <a:endParaRPr lang="en-US" sz="3600" dirty="0"/>
          </a:p>
        </p:txBody>
      </p:sp>
      <p:sp>
        <p:nvSpPr>
          <p:cNvPr id="3" name="card-161"/>
          <p:cNvSpPr/>
          <p:nvPr/>
        </p:nvSpPr>
        <p:spPr>
          <a:xfrm>
            <a:off x="548640" y="1554480"/>
            <a:ext cx="3474720" cy="41148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con-bg-162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con-163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73275"/>
            <a:ext cx="351130" cy="351130"/>
          </a:xfrm>
          <a:prstGeom prst="rect">
            <a:avLst/>
          </a:prstGeom>
        </p:spPr>
      </p:pic>
      <p:sp>
        <p:nvSpPr>
          <p:cNvPr id="6" name="text-164"/>
          <p:cNvSpPr txBox="1"/>
          <p:nvPr/>
        </p:nvSpPr>
        <p:spPr>
          <a:xfrm>
            <a:off x="173736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2400" dirty="0"/>
          </a:p>
        </p:txBody>
      </p:sp>
      <p:sp>
        <p:nvSpPr>
          <p:cNvPr id="7" name="text-165"/>
          <p:cNvSpPr txBox="1"/>
          <p:nvPr/>
        </p:nvSpPr>
        <p:spPr>
          <a:xfrm>
            <a:off x="82296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 simulator of paging with a page table and TLB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LRU, FIFO and Clock replacement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Step-by-step trace and summary statistics</a:t>
            </a:r>
            <a:endParaRPr lang="en-US" sz="1800" dirty="0"/>
          </a:p>
        </p:txBody>
      </p:sp>
      <p:sp>
        <p:nvSpPr>
          <p:cNvPr id="8" name="card-166"/>
          <p:cNvSpPr/>
          <p:nvPr/>
        </p:nvSpPr>
        <p:spPr>
          <a:xfrm>
            <a:off x="4343400" y="1554480"/>
            <a:ext cx="3474720" cy="41148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icon-bg-167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con-168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73275"/>
            <a:ext cx="351130" cy="351130"/>
          </a:xfrm>
          <a:prstGeom prst="rect">
            <a:avLst/>
          </a:prstGeom>
        </p:spPr>
      </p:pic>
      <p:sp>
        <p:nvSpPr>
          <p:cNvPr id="11" name="text-169"/>
          <p:cNvSpPr txBox="1"/>
          <p:nvPr/>
        </p:nvSpPr>
        <p:spPr>
          <a:xfrm>
            <a:off x="553212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</a:t>
            </a:r>
            <a:endParaRPr lang="en-US" sz="2400" dirty="0"/>
          </a:p>
        </p:txBody>
      </p:sp>
      <p:sp>
        <p:nvSpPr>
          <p:cNvPr id="12" name="text-170"/>
          <p:cNvSpPr txBox="1"/>
          <p:nvPr/>
        </p:nvSpPr>
        <p:spPr>
          <a:xfrm>
            <a:off x="461772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TLB gains stop once it covers the working set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LRU cut faults about 25% vs FIFO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Page faults dominate average access time</a:t>
            </a:r>
            <a:endParaRPr lang="en-US" sz="1800" dirty="0"/>
          </a:p>
        </p:txBody>
      </p:sp>
      <p:sp>
        <p:nvSpPr>
          <p:cNvPr id="13" name="card-171"/>
          <p:cNvSpPr/>
          <p:nvPr/>
        </p:nvSpPr>
        <p:spPr>
          <a:xfrm>
            <a:off x="8138160" y="1554480"/>
            <a:ext cx="3474720" cy="41148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icon-bg-172"/>
          <p:cNvSpPr/>
          <p:nvPr/>
        </p:nvSpPr>
        <p:spPr>
          <a:xfrm>
            <a:off x="8412480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con-17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75" y="1973275"/>
            <a:ext cx="351130" cy="351130"/>
          </a:xfrm>
          <a:prstGeom prst="rect">
            <a:avLst/>
          </a:prstGeom>
        </p:spPr>
      </p:pic>
      <p:sp>
        <p:nvSpPr>
          <p:cNvPr id="16" name="text-174"/>
          <p:cNvSpPr txBox="1"/>
          <p:nvPr/>
        </p:nvSpPr>
        <p:spPr>
          <a:xfrm>
            <a:off x="932688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400" dirty="0"/>
          </a:p>
        </p:txBody>
      </p:sp>
      <p:sp>
        <p:nvSpPr>
          <p:cNvPr id="17" name="text-175"/>
          <p:cNvSpPr txBox="1"/>
          <p:nvPr/>
        </p:nvSpPr>
        <p:spPr>
          <a:xfrm>
            <a:off x="841248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Multi-level page tables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Set-associative TLB and address-space IDs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Dirty-page write-back cost in the timing model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dress Translation">
  <a:themeElements>
    <a:clrScheme name="Address Translation">
      <a:dk1>
        <a:srgbClr val="0B1F2A"/>
      </a:dk1>
      <a:lt1>
        <a:srgbClr val="FFFFFF"/>
      </a:lt1>
      <a:dk2>
        <a:srgbClr val="12343B"/>
      </a:dk2>
      <a:lt2>
        <a:srgbClr val="EAF2F1"/>
      </a:lt2>
      <a:accent1>
        <a:srgbClr val="0E7C86"/>
      </a:accent1>
      <a:accent2>
        <a:srgbClr val="F2A541"/>
      </a:accent2>
      <a:accent3>
        <a:srgbClr val="D1495B"/>
      </a:accent3>
      <a:accent4>
        <a:srgbClr val="3D5A80"/>
      </a:accent4>
      <a:accent5>
        <a:srgbClr val="7FB069"/>
      </a:accent5>
      <a:accent6>
        <a:srgbClr val="8D99AE"/>
      </a:accent6>
      <a:hlink>
        <a:srgbClr val="0E7C86"/>
      </a:hlink>
      <a:folHlink>
        <a:srgbClr val="3D5A80"/>
      </a:folHlink>
    </a:clrScheme>
    <a:fontScheme name="Address Transl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Virtual-to-Physical Address Translation Simulator</dc:title>
  <dc:subject>OSSP project</dc:subject>
  <dc:creator>PptxGenJS</dc:creator>
  <cp:lastModifiedBy>PptxGenJS</cp:lastModifiedBy>
  <cp:revision>1</cp:revision>
  <dcterms:created xsi:type="dcterms:W3CDTF">2026-10-17T05:20:21Z</dcterms:created>
  <dcterms:modified xsi:type="dcterms:W3CDTF">2026-10-17T05:20:21Z</dcterms:modified>
</cp:coreProperties>
</file>